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embeddedFontLst>
    <p:embeddedFont>
      <p:font typeface="Lato" panose="020F0502020204030203" pitchFamily="34" charset="0"/>
      <p:regular r:id="rId14"/>
      <p:bold r:id="rId15"/>
      <p:italic r:id="rId16"/>
      <p:boldItalic r:id="rId17"/>
    </p:embeddedFont>
    <p:embeddedFont>
      <p:font typeface="Poppins" panose="00000500000000000000" pitchFamily="2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1030DCC-24F6-4096-B33C-0100714AECB4}">
  <a:tblStyle styleId="{21030DCC-24F6-4096-B33C-0100714AECB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1301" y="31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/>
        </p:nvSpPr>
        <p:spPr>
          <a:xfrm>
            <a:off x="1450500" y="2690100"/>
            <a:ext cx="92910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dirty="0">
                <a:solidFill>
                  <a:srgbClr val="38A3A5"/>
                </a:solidFill>
                <a:latin typeface="Poppins"/>
                <a:ea typeface="Poppins"/>
                <a:cs typeface="Poppins"/>
                <a:sym typeface="Poppins"/>
              </a:rPr>
              <a:t>Customer </a:t>
            </a:r>
            <a:r>
              <a:rPr lang="en-US" sz="4800" b="1" i="0" u="none" strike="noStrike" cap="none" dirty="0">
                <a:solidFill>
                  <a:srgbClr val="38A3A5"/>
                </a:solidFill>
                <a:latin typeface="Poppins"/>
                <a:ea typeface="Poppins"/>
                <a:cs typeface="Poppins"/>
                <a:sym typeface="Poppins"/>
              </a:rPr>
              <a:t>Behavior Analysis</a:t>
            </a:r>
            <a:endParaRPr dirty="0">
              <a:solidFill>
                <a:srgbClr val="38A3A5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2486025"/>
            <a:ext cx="5143500" cy="2867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86500" y="2486025"/>
            <a:ext cx="5143500" cy="286702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 txBox="1"/>
          <p:nvPr/>
        </p:nvSpPr>
        <p:spPr>
          <a:xfrm>
            <a:off x="1152525" y="3295650"/>
            <a:ext cx="4362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Transactional data spanning </a:t>
            </a:r>
            <a:r>
              <a:rPr lang="en-US" sz="1500" b="1" i="0" u="none" strike="noStrike" cap="none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3,900 purchases</a:t>
            </a:r>
            <a:r>
              <a:rPr lang="en-US" sz="1500" b="0" i="0" u="none" strike="noStrike" cap="none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 across multiple product categories.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6677025" y="3295650"/>
            <a:ext cx="4362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Utilizing industry-standard tools to ensure robust data integrity and visualization.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1228725" y="404812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1343025" y="4048125"/>
            <a:ext cx="41719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18 Primary Variables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1228725" y="435292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1343025" y="4352925"/>
            <a:ext cx="41719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Global Regional Coverage</a:t>
            </a:r>
            <a:endParaRPr dirty="0"/>
          </a:p>
        </p:txBody>
      </p:sp>
      <p:sp>
        <p:nvSpPr>
          <p:cNvPr id="98" name="Google Shape;98;p14"/>
          <p:cNvSpPr txBox="1"/>
          <p:nvPr/>
        </p:nvSpPr>
        <p:spPr>
          <a:xfrm>
            <a:off x="1228725" y="465772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1343025" y="4657725"/>
            <a:ext cx="41719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Full Demographic Profiling</a:t>
            </a:r>
            <a:endParaRPr dirty="0"/>
          </a:p>
        </p:txBody>
      </p:sp>
      <p:sp>
        <p:nvSpPr>
          <p:cNvPr id="100" name="Google Shape;100;p14"/>
          <p:cNvSpPr txBox="1"/>
          <p:nvPr/>
        </p:nvSpPr>
        <p:spPr>
          <a:xfrm>
            <a:off x="6753225" y="404812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6867525" y="4048125"/>
            <a:ext cx="41721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Python:</a:t>
            </a:r>
            <a:r>
              <a:rPr lang="en-US" sz="1500" b="0" i="0" u="none" strike="noStrike" cap="none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Cleaning and pre-proccessing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6753225" y="435292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6867525" y="4352925"/>
            <a:ext cx="41719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MS SQL:</a:t>
            </a:r>
            <a:r>
              <a:rPr lang="en-US" sz="1500" b="0" i="0" u="none" strike="noStrike" cap="none" dirty="0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 Complex Business Logic</a:t>
            </a:r>
            <a:endParaRPr dirty="0"/>
          </a:p>
        </p:txBody>
      </p:sp>
      <p:sp>
        <p:nvSpPr>
          <p:cNvPr id="104" name="Google Shape;104;p14"/>
          <p:cNvSpPr txBox="1"/>
          <p:nvPr/>
        </p:nvSpPr>
        <p:spPr>
          <a:xfrm>
            <a:off x="6753225" y="465772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6867525" y="4657725"/>
            <a:ext cx="41719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Power BI:</a:t>
            </a:r>
            <a:r>
              <a:rPr lang="en-US" sz="1500" b="0" i="0" u="none" strike="noStrike" cap="none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 Interactive BI Dashboards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952500" y="571500"/>
            <a:ext cx="1100137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B263B"/>
                </a:solidFill>
                <a:latin typeface="Poppins"/>
                <a:ea typeface="Poppins"/>
                <a:cs typeface="Poppins"/>
                <a:sym typeface="Poppins"/>
              </a:rPr>
              <a:t>Comprehensive Scope and Data Pipeline</a:t>
            </a:r>
            <a:endParaRPr/>
          </a:p>
        </p:txBody>
      </p:sp>
      <p:sp>
        <p:nvSpPr>
          <p:cNvPr id="107" name="Google Shape;107;p14"/>
          <p:cNvSpPr/>
          <p:nvPr/>
        </p:nvSpPr>
        <p:spPr>
          <a:xfrm>
            <a:off x="762000" y="571500"/>
            <a:ext cx="57150" cy="600075"/>
          </a:xfrm>
          <a:prstGeom prst="rect">
            <a:avLst/>
          </a:prstGeom>
          <a:solidFill>
            <a:srgbClr val="38A3A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1152525" y="2876550"/>
            <a:ext cx="458057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38A3A5"/>
                </a:solidFill>
                <a:latin typeface="Poppins"/>
                <a:ea typeface="Poppins"/>
                <a:cs typeface="Poppins"/>
                <a:sym typeface="Poppins"/>
              </a:rPr>
              <a:t>Dataset Dimensions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6677025" y="2876550"/>
            <a:ext cx="458057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38A3A5"/>
                </a:solidFill>
                <a:latin typeface="Poppins"/>
                <a:ea typeface="Poppins"/>
                <a:cs typeface="Poppins"/>
                <a:sym typeface="Poppins"/>
              </a:rPr>
              <a:t>The Analysis Stack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2014537"/>
            <a:ext cx="51435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 descr="image.png"/>
          <p:cNvPicPr preferRelativeResize="0"/>
          <p:nvPr/>
        </p:nvPicPr>
        <p:blipFill rotWithShape="1">
          <a:blip r:embed="rId4">
            <a:alphaModFix/>
          </a:blip>
          <a:srcRect b="5455"/>
          <a:stretch/>
        </p:blipFill>
        <p:spPr>
          <a:xfrm>
            <a:off x="762000" y="2014526"/>
            <a:ext cx="5143500" cy="3602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6286500" y="2600325"/>
            <a:ext cx="51435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Raw data was processed to eliminate bias and improve structural readability.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6286500" y="3400425"/>
            <a:ext cx="51435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• Imputation:</a:t>
            </a:r>
            <a:r>
              <a:rPr lang="en-US" sz="1500" b="0" i="0" u="none" strike="noStrike" cap="none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 Missing Review Ratings filled using category-specific medians.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6286500" y="4152900"/>
            <a:ext cx="51435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• Standardization:</a:t>
            </a:r>
            <a:r>
              <a:rPr lang="en-US" sz="1500" b="0" i="0" u="none" strike="noStrike" cap="none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 Column headers converted to snake_case for PostgreSQL compliance.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6286500" y="4905375"/>
            <a:ext cx="51435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• Binning:</a:t>
            </a:r>
            <a:r>
              <a:rPr lang="en-US" sz="1500" b="0" i="0" u="none" strike="noStrike" cap="none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 Customer ages categorized into strategic groups (Young Adult to Senior).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952500" y="571500"/>
            <a:ext cx="1100137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B263B"/>
                </a:solidFill>
                <a:latin typeface="Poppins"/>
                <a:ea typeface="Poppins"/>
                <a:cs typeface="Poppins"/>
                <a:sym typeface="Poppins"/>
              </a:rPr>
              <a:t>Advanced Data Cleaning and Engineering</a:t>
            </a:r>
            <a:endParaRPr/>
          </a:p>
        </p:txBody>
      </p:sp>
      <p:sp>
        <p:nvSpPr>
          <p:cNvPr id="121" name="Google Shape;121;p15"/>
          <p:cNvSpPr/>
          <p:nvPr/>
        </p:nvSpPr>
        <p:spPr>
          <a:xfrm>
            <a:off x="762000" y="571500"/>
            <a:ext cx="57150" cy="600075"/>
          </a:xfrm>
          <a:prstGeom prst="rect">
            <a:avLst/>
          </a:prstGeom>
          <a:solidFill>
            <a:srgbClr val="38A3A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5"/>
          <p:cNvSpPr txBox="1"/>
          <p:nvPr/>
        </p:nvSpPr>
        <p:spPr>
          <a:xfrm>
            <a:off x="6286500" y="2324100"/>
            <a:ext cx="54006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B263B"/>
                </a:solidFill>
                <a:latin typeface="Poppins"/>
                <a:ea typeface="Poppins"/>
                <a:cs typeface="Poppins"/>
                <a:sym typeface="Poppins"/>
              </a:rPr>
              <a:t>Refining the Analytical Core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/>
          <p:nvPr/>
        </p:nvSpPr>
        <p:spPr>
          <a:xfrm>
            <a:off x="5619750" y="3090862"/>
            <a:ext cx="952500" cy="38100"/>
          </a:xfrm>
          <a:prstGeom prst="rect">
            <a:avLst/>
          </a:prstGeom>
          <a:solidFill>
            <a:srgbClr val="38A3A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6"/>
          <p:cNvSpPr txBox="1"/>
          <p:nvPr/>
        </p:nvSpPr>
        <p:spPr>
          <a:xfrm>
            <a:off x="4433875" y="3319424"/>
            <a:ext cx="33243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Identifying the Primary Revenue Engines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1255394" y="2090737"/>
            <a:ext cx="9681210" cy="809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Demographic &amp; Financial Insights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7" descr="image.png"/>
          <p:cNvPicPr preferRelativeResize="0"/>
          <p:nvPr/>
        </p:nvPicPr>
        <p:blipFill rotWithShape="1">
          <a:blip r:embed="rId3">
            <a:alphaModFix/>
          </a:blip>
          <a:srcRect l="16570" r="1" b="62868"/>
          <a:stretch>
            <a:fillRect/>
          </a:stretch>
        </p:blipFill>
        <p:spPr>
          <a:xfrm>
            <a:off x="762000" y="2767919"/>
            <a:ext cx="10374293" cy="204888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7"/>
          <p:cNvSpPr txBox="1"/>
          <p:nvPr/>
        </p:nvSpPr>
        <p:spPr>
          <a:xfrm>
            <a:off x="762000" y="5676900"/>
            <a:ext cx="10668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 dirty="0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Male customers contribute roughly 2.1x the revenue of female segments, indicating a dominant market share in current category offerings.</a:t>
            </a:r>
            <a:endParaRPr dirty="0"/>
          </a:p>
        </p:txBody>
      </p:sp>
      <p:sp>
        <p:nvSpPr>
          <p:cNvPr id="138" name="Google Shape;138;p17"/>
          <p:cNvSpPr txBox="1"/>
          <p:nvPr/>
        </p:nvSpPr>
        <p:spPr>
          <a:xfrm>
            <a:off x="952500" y="571500"/>
            <a:ext cx="1100137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B263B"/>
                </a:solidFill>
                <a:latin typeface="Poppins"/>
                <a:ea typeface="Poppins"/>
                <a:cs typeface="Poppins"/>
                <a:sym typeface="Poppins"/>
              </a:rPr>
              <a:t>Male Segments Drive Primary Revenue</a:t>
            </a:r>
            <a:endParaRPr/>
          </a:p>
        </p:txBody>
      </p:sp>
      <p:sp>
        <p:nvSpPr>
          <p:cNvPr id="139" name="Google Shape;139;p17"/>
          <p:cNvSpPr/>
          <p:nvPr/>
        </p:nvSpPr>
        <p:spPr>
          <a:xfrm>
            <a:off x="762000" y="571500"/>
            <a:ext cx="57150" cy="600075"/>
          </a:xfrm>
          <a:prstGeom prst="rect">
            <a:avLst/>
          </a:prstGeom>
          <a:solidFill>
            <a:srgbClr val="38A3A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1552575"/>
            <a:ext cx="10668000" cy="4733925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/>
        </p:nvSpPr>
        <p:spPr>
          <a:xfrm>
            <a:off x="762000" y="59817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Revenue trends show a peak in the </a:t>
            </a:r>
            <a:r>
              <a:rPr lang="en-US" sz="1500" b="1" i="0" u="none" strike="noStrike" cap="none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Young Adult</a:t>
            </a:r>
            <a:r>
              <a:rPr lang="en-US" sz="1500" b="0" i="0" u="none" strike="noStrike" cap="none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 demographic, with a steady but marginal decline as customer age increases.</a:t>
            </a:r>
            <a:endParaRPr/>
          </a:p>
        </p:txBody>
      </p:sp>
      <p:sp>
        <p:nvSpPr>
          <p:cNvPr id="146" name="Google Shape;146;p18"/>
          <p:cNvSpPr txBox="1"/>
          <p:nvPr/>
        </p:nvSpPr>
        <p:spPr>
          <a:xfrm>
            <a:off x="952500" y="571500"/>
            <a:ext cx="1100137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B263B"/>
                </a:solidFill>
                <a:latin typeface="Poppins"/>
                <a:ea typeface="Poppins"/>
                <a:cs typeface="Poppins"/>
                <a:sym typeface="Poppins"/>
              </a:rPr>
              <a:t>Young Adults and Middle-Aged Lead Spend</a:t>
            </a:r>
            <a:endParaRPr/>
          </a:p>
        </p:txBody>
      </p:sp>
      <p:sp>
        <p:nvSpPr>
          <p:cNvPr id="147" name="Google Shape;147;p18"/>
          <p:cNvSpPr/>
          <p:nvPr/>
        </p:nvSpPr>
        <p:spPr>
          <a:xfrm>
            <a:off x="762000" y="571500"/>
            <a:ext cx="57150" cy="600075"/>
          </a:xfrm>
          <a:prstGeom prst="rect">
            <a:avLst/>
          </a:prstGeom>
          <a:solidFill>
            <a:srgbClr val="38A3A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9"/>
          <p:cNvSpPr txBox="1"/>
          <p:nvPr/>
        </p:nvSpPr>
        <p:spPr>
          <a:xfrm>
            <a:off x="5167324" y="2741350"/>
            <a:ext cx="5820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Non-Subscribers:</a:t>
            </a:r>
            <a:r>
              <a:rPr lang="en-US" sz="1800" b="0" i="0" u="none" strike="noStrike" cap="none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 73% ($170k)</a:t>
            </a:r>
            <a:endParaRPr/>
          </a:p>
        </p:txBody>
      </p:sp>
      <p:sp>
        <p:nvSpPr>
          <p:cNvPr id="153" name="Google Shape;153;p19"/>
          <p:cNvSpPr txBox="1"/>
          <p:nvPr/>
        </p:nvSpPr>
        <p:spPr>
          <a:xfrm>
            <a:off x="5167325" y="3331825"/>
            <a:ext cx="5820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Active Subscribers:</a:t>
            </a:r>
            <a:r>
              <a:rPr lang="en-US" sz="1800" b="0" i="0" u="none" strike="noStrike" cap="none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 27% ($62.6k)</a:t>
            </a:r>
            <a:endParaRPr/>
          </a:p>
        </p:txBody>
      </p:sp>
      <p:sp>
        <p:nvSpPr>
          <p:cNvPr id="154" name="Google Shape;154;p19"/>
          <p:cNvSpPr txBox="1"/>
          <p:nvPr/>
        </p:nvSpPr>
        <p:spPr>
          <a:xfrm>
            <a:off x="4734371" y="4200525"/>
            <a:ext cx="6695628" cy="740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38A3A5"/>
                </a:solidFill>
                <a:latin typeface="Lato"/>
                <a:ea typeface="Lato"/>
                <a:cs typeface="Lato"/>
                <a:sym typeface="Lato"/>
              </a:rPr>
              <a:t>Opportunity:</a:t>
            </a:r>
            <a:r>
              <a:rPr lang="en-US" sz="1800" b="0" i="0" u="none" strike="noStrike" cap="none" dirty="0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 Targeted membership conversion for the 73% inactive pool.</a:t>
            </a:r>
            <a:endParaRPr dirty="0"/>
          </a:p>
        </p:txBody>
      </p:sp>
      <p:sp>
        <p:nvSpPr>
          <p:cNvPr id="155" name="Google Shape;155;p19"/>
          <p:cNvSpPr/>
          <p:nvPr/>
        </p:nvSpPr>
        <p:spPr>
          <a:xfrm>
            <a:off x="4734371" y="4010025"/>
            <a:ext cx="669562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9"/>
          <p:cNvSpPr/>
          <p:nvPr/>
        </p:nvSpPr>
        <p:spPr>
          <a:xfrm>
            <a:off x="4734371" y="2775644"/>
            <a:ext cx="228600" cy="228600"/>
          </a:xfrm>
          <a:prstGeom prst="roundRect">
            <a:avLst>
              <a:gd name="adj" fmla="val 16666"/>
            </a:avLst>
          </a:prstGeom>
          <a:solidFill>
            <a:srgbClr val="7DACD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9"/>
          <p:cNvSpPr/>
          <p:nvPr/>
        </p:nvSpPr>
        <p:spPr>
          <a:xfrm>
            <a:off x="4734371" y="3331815"/>
            <a:ext cx="228600" cy="228600"/>
          </a:xfrm>
          <a:prstGeom prst="roundRect">
            <a:avLst>
              <a:gd name="adj" fmla="val 16666"/>
            </a:avLst>
          </a:prstGeom>
          <a:solidFill>
            <a:srgbClr val="2D386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9"/>
          <p:cNvSpPr txBox="1"/>
          <p:nvPr/>
        </p:nvSpPr>
        <p:spPr>
          <a:xfrm>
            <a:off x="952500" y="571500"/>
            <a:ext cx="1100137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B263B"/>
                </a:solidFill>
                <a:latin typeface="Poppins"/>
                <a:ea typeface="Poppins"/>
                <a:cs typeface="Poppins"/>
                <a:sym typeface="Poppins"/>
              </a:rPr>
              <a:t>Significant Upside in Subscription Conversion</a:t>
            </a:r>
            <a:endParaRPr/>
          </a:p>
        </p:txBody>
      </p:sp>
      <p:sp>
        <p:nvSpPr>
          <p:cNvPr id="159" name="Google Shape;159;p19"/>
          <p:cNvSpPr/>
          <p:nvPr/>
        </p:nvSpPr>
        <p:spPr>
          <a:xfrm>
            <a:off x="762000" y="571500"/>
            <a:ext cx="57150" cy="600075"/>
          </a:xfrm>
          <a:prstGeom prst="rect">
            <a:avLst/>
          </a:prstGeom>
          <a:solidFill>
            <a:srgbClr val="38A3A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0" name="Google Shape;160;p19"/>
          <p:cNvPicPr preferRelativeResize="0"/>
          <p:nvPr/>
        </p:nvPicPr>
        <p:blipFill rotWithShape="1">
          <a:blip r:embed="rId3">
            <a:alphaModFix/>
          </a:blip>
          <a:srcRect l="8646" t="13554" r="5664"/>
          <a:stretch/>
        </p:blipFill>
        <p:spPr>
          <a:xfrm>
            <a:off x="338975" y="2459175"/>
            <a:ext cx="4233025" cy="273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5" name="Google Shape;165;p20"/>
          <p:cNvGraphicFramePr/>
          <p:nvPr>
            <p:extLst>
              <p:ext uri="{D42A27DB-BD31-4B8C-83A1-F6EECF244321}">
                <p14:modId xmlns:p14="http://schemas.microsoft.com/office/powerpoint/2010/main" val="2258613932"/>
              </p:ext>
            </p:extLst>
          </p:nvPr>
        </p:nvGraphicFramePr>
        <p:xfrm>
          <a:off x="778900" y="2058217"/>
          <a:ext cx="10467125" cy="2838500"/>
        </p:xfrm>
        <a:graphic>
          <a:graphicData uri="http://schemas.openxmlformats.org/drawingml/2006/table">
            <a:tbl>
              <a:tblPr firstRow="1" bandRow="1">
                <a:tableStyleId>{21030DCC-24F6-4096-B33C-0100714AECB4}</a:tableStyleId>
              </a:tblPr>
              <a:tblGrid>
                <a:gridCol w="3238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2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96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7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solidFill>
                            <a:srgbClr val="FFFFFF"/>
                          </a:solidFill>
                          <a:sym typeface="Lato"/>
                        </a:rPr>
                        <a:t>Item Category</a:t>
                      </a:r>
                      <a:endParaRPr sz="2400"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solidFill>
                            <a:srgbClr val="FFFFFF"/>
                          </a:solidFill>
                          <a:sym typeface="Lato"/>
                        </a:rPr>
                        <a:t>Top Selling Product</a:t>
                      </a:r>
                      <a:endParaRPr sz="2400"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 dirty="0">
                          <a:solidFill>
                            <a:srgbClr val="FFFFFF"/>
                          </a:solidFill>
                          <a:sym typeface="Lato"/>
                        </a:rPr>
                        <a:t>Order Volume</a:t>
                      </a:r>
                      <a:endParaRPr sz="2400" dirty="0"/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7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1" u="none" strike="noStrike" cap="none" dirty="0">
                          <a:solidFill>
                            <a:srgbClr val="4A4A4A"/>
                          </a:solidFill>
                          <a:sym typeface="Lato"/>
                        </a:rPr>
                        <a:t>Accessories</a:t>
                      </a:r>
                      <a:endParaRPr sz="1500" dirty="0"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0" u="none" strike="noStrike" cap="none" dirty="0">
                          <a:solidFill>
                            <a:srgbClr val="4A4A4A"/>
                          </a:solidFill>
                          <a:sym typeface="Lato"/>
                        </a:rPr>
                        <a:t>Jewelry</a:t>
                      </a:r>
                      <a:endParaRPr sz="1500" dirty="0"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0" u="none" strike="noStrike" cap="none">
                          <a:solidFill>
                            <a:srgbClr val="4A4A4A"/>
                          </a:solidFill>
                          <a:sym typeface="Lato"/>
                        </a:rPr>
                        <a:t>171 Units</a:t>
                      </a:r>
                      <a:endParaRPr sz="1500"/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7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1" u="none" strike="noStrike" cap="none" dirty="0">
                          <a:solidFill>
                            <a:srgbClr val="4A4A4A"/>
                          </a:solidFill>
                          <a:sym typeface="Lato"/>
                        </a:rPr>
                        <a:t>Clothing</a:t>
                      </a:r>
                      <a:endParaRPr sz="1500" dirty="0"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0" u="none" strike="noStrike" cap="none" dirty="0">
                          <a:solidFill>
                            <a:srgbClr val="4A4A4A"/>
                          </a:solidFill>
                          <a:sym typeface="Lato"/>
                        </a:rPr>
                        <a:t>Blouse / Pants</a:t>
                      </a:r>
                      <a:endParaRPr sz="1500" dirty="0"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0" u="none" strike="noStrike" cap="none">
                          <a:solidFill>
                            <a:srgbClr val="4A4A4A"/>
                          </a:solidFill>
                          <a:sym typeface="Lato"/>
                        </a:rPr>
                        <a:t>171 Units</a:t>
                      </a:r>
                      <a:endParaRPr sz="1500"/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7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1" u="none" strike="noStrike" cap="none" dirty="0">
                          <a:solidFill>
                            <a:srgbClr val="4A4A4A"/>
                          </a:solidFill>
                          <a:sym typeface="Lato"/>
                        </a:rPr>
                        <a:t>Outerwear</a:t>
                      </a:r>
                      <a:endParaRPr sz="1500" dirty="0"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0" u="none" strike="noStrike" cap="none" dirty="0">
                          <a:solidFill>
                            <a:srgbClr val="4A4A4A"/>
                          </a:solidFill>
                          <a:sym typeface="Lato"/>
                        </a:rPr>
                        <a:t>Jacket</a:t>
                      </a:r>
                      <a:endParaRPr sz="1500" dirty="0"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0" u="none" strike="noStrike" cap="none" dirty="0">
                          <a:solidFill>
                            <a:srgbClr val="4A4A4A"/>
                          </a:solidFill>
                          <a:sym typeface="Lato"/>
                        </a:rPr>
                        <a:t>163 Units</a:t>
                      </a:r>
                      <a:endParaRPr sz="1500" dirty="0"/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7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1" u="none" strike="noStrike" cap="none" dirty="0">
                          <a:solidFill>
                            <a:srgbClr val="4A4A4A"/>
                          </a:solidFill>
                          <a:sym typeface="Lato"/>
                        </a:rPr>
                        <a:t>Footwear</a:t>
                      </a:r>
                      <a:endParaRPr sz="1500" dirty="0"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0" u="none" strike="noStrike" cap="none" dirty="0">
                          <a:solidFill>
                            <a:srgbClr val="4A4A4A"/>
                          </a:solidFill>
                          <a:sym typeface="Lato"/>
                        </a:rPr>
                        <a:t>Sandals</a:t>
                      </a:r>
                      <a:endParaRPr sz="1500" dirty="0"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0" u="none" strike="noStrike" cap="none" dirty="0">
                          <a:solidFill>
                            <a:srgbClr val="4A4A4A"/>
                          </a:solidFill>
                          <a:sym typeface="Lato"/>
                        </a:rPr>
                        <a:t>160 Units</a:t>
                      </a:r>
                      <a:endParaRPr sz="1500" dirty="0"/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6" name="Google Shape;166;p20"/>
          <p:cNvSpPr/>
          <p:nvPr/>
        </p:nvSpPr>
        <p:spPr>
          <a:xfrm>
            <a:off x="762000" y="3406080"/>
            <a:ext cx="262041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0"/>
          <p:cNvSpPr/>
          <p:nvPr/>
        </p:nvSpPr>
        <p:spPr>
          <a:xfrm>
            <a:off x="3382416" y="3406080"/>
            <a:ext cx="326290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0"/>
          <p:cNvSpPr/>
          <p:nvPr/>
        </p:nvSpPr>
        <p:spPr>
          <a:xfrm>
            <a:off x="9231957" y="3406080"/>
            <a:ext cx="219804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0"/>
          <p:cNvSpPr/>
          <p:nvPr/>
        </p:nvSpPr>
        <p:spPr>
          <a:xfrm>
            <a:off x="762000" y="4530030"/>
            <a:ext cx="262041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0"/>
          <p:cNvSpPr/>
          <p:nvPr/>
        </p:nvSpPr>
        <p:spPr>
          <a:xfrm>
            <a:off x="3382416" y="4530030"/>
            <a:ext cx="326290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0"/>
          <p:cNvSpPr/>
          <p:nvPr/>
        </p:nvSpPr>
        <p:spPr>
          <a:xfrm>
            <a:off x="6645324" y="4530030"/>
            <a:ext cx="258663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9231957" y="4530030"/>
            <a:ext cx="219804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952500" y="571500"/>
            <a:ext cx="1100137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B263B"/>
                </a:solidFill>
                <a:latin typeface="Poppins"/>
                <a:ea typeface="Poppins"/>
                <a:cs typeface="Poppins"/>
                <a:sym typeface="Poppins"/>
              </a:rPr>
              <a:t>Top Rated Products and Category Leaders</a:t>
            </a:r>
            <a:endParaRPr/>
          </a:p>
        </p:txBody>
      </p:sp>
      <p:sp>
        <p:nvSpPr>
          <p:cNvPr id="183" name="Google Shape;183;p20"/>
          <p:cNvSpPr/>
          <p:nvPr/>
        </p:nvSpPr>
        <p:spPr>
          <a:xfrm>
            <a:off x="762000" y="571500"/>
            <a:ext cx="57150" cy="600075"/>
          </a:xfrm>
          <a:prstGeom prst="rect">
            <a:avLst/>
          </a:prstGeom>
          <a:solidFill>
            <a:srgbClr val="38A3A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2728019"/>
            <a:ext cx="3365450" cy="23830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13200" y="2728019"/>
            <a:ext cx="3365450" cy="23830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64400" y="2728019"/>
            <a:ext cx="3365599" cy="23830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187475" y="3013769"/>
            <a:ext cx="514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1"/>
          <p:cNvSpPr txBox="1"/>
          <p:nvPr/>
        </p:nvSpPr>
        <p:spPr>
          <a:xfrm>
            <a:off x="1047750" y="3937694"/>
            <a:ext cx="27939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3,116 Customers</a:t>
            </a:r>
            <a:endParaRPr/>
          </a:p>
        </p:txBody>
      </p:sp>
      <p:sp>
        <p:nvSpPr>
          <p:cNvPr id="193" name="Google Shape;193;p21"/>
          <p:cNvSpPr txBox="1"/>
          <p:nvPr/>
        </p:nvSpPr>
        <p:spPr>
          <a:xfrm>
            <a:off x="1047750" y="4337744"/>
            <a:ext cx="279395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The core stability of the business with recurring purchase history.</a:t>
            </a:r>
            <a:endParaRPr/>
          </a:p>
        </p:txBody>
      </p:sp>
      <p:pic>
        <p:nvPicPr>
          <p:cNvPr id="194" name="Google Shape;194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67251" y="3013769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1"/>
          <p:cNvSpPr txBox="1"/>
          <p:nvPr/>
        </p:nvSpPr>
        <p:spPr>
          <a:xfrm>
            <a:off x="4698950" y="3937694"/>
            <a:ext cx="27939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701 Customers</a:t>
            </a:r>
            <a:endParaRPr/>
          </a:p>
        </p:txBody>
      </p:sp>
      <p:sp>
        <p:nvSpPr>
          <p:cNvPr id="196" name="Google Shape;196;p21"/>
          <p:cNvSpPr txBox="1"/>
          <p:nvPr/>
        </p:nvSpPr>
        <p:spPr>
          <a:xfrm>
            <a:off x="4698950" y="4337744"/>
            <a:ext cx="279395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Moderate engagement level with potential for loyalty conversion.</a:t>
            </a:r>
            <a:endParaRPr/>
          </a:p>
        </p:txBody>
      </p:sp>
      <p:pic>
        <p:nvPicPr>
          <p:cNvPr id="197" name="Google Shape;197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461450" y="3013769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1"/>
          <p:cNvSpPr txBox="1"/>
          <p:nvPr/>
        </p:nvSpPr>
        <p:spPr>
          <a:xfrm>
            <a:off x="8350150" y="3937694"/>
            <a:ext cx="279409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83 Customers</a:t>
            </a:r>
            <a:endParaRPr/>
          </a:p>
        </p:txBody>
      </p:sp>
      <p:sp>
        <p:nvSpPr>
          <p:cNvPr id="199" name="Google Shape;199;p21"/>
          <p:cNvSpPr txBox="1"/>
          <p:nvPr/>
        </p:nvSpPr>
        <p:spPr>
          <a:xfrm>
            <a:off x="8350150" y="4337744"/>
            <a:ext cx="2794099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Latest cohort requiring onboarding and retention strategies.</a:t>
            </a:r>
            <a:endParaRPr dirty="0"/>
          </a:p>
        </p:txBody>
      </p:sp>
      <p:sp>
        <p:nvSpPr>
          <p:cNvPr id="200" name="Google Shape;200;p21"/>
          <p:cNvSpPr txBox="1"/>
          <p:nvPr/>
        </p:nvSpPr>
        <p:spPr>
          <a:xfrm>
            <a:off x="952500" y="571500"/>
            <a:ext cx="1100137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B263B"/>
                </a:solidFill>
                <a:latin typeface="Poppins"/>
                <a:ea typeface="Poppins"/>
                <a:cs typeface="Poppins"/>
                <a:sym typeface="Poppins"/>
              </a:rPr>
              <a:t>Behavior-Based Customer Segmentation</a:t>
            </a:r>
            <a:endParaRPr/>
          </a:p>
        </p:txBody>
      </p:sp>
      <p:sp>
        <p:nvSpPr>
          <p:cNvPr id="201" name="Google Shape;201;p21"/>
          <p:cNvSpPr/>
          <p:nvPr/>
        </p:nvSpPr>
        <p:spPr>
          <a:xfrm>
            <a:off x="762000" y="571500"/>
            <a:ext cx="57150" cy="600075"/>
          </a:xfrm>
          <a:prstGeom prst="rect">
            <a:avLst/>
          </a:prstGeom>
          <a:solidFill>
            <a:srgbClr val="38A3A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1"/>
          <p:cNvSpPr txBox="1"/>
          <p:nvPr/>
        </p:nvSpPr>
        <p:spPr>
          <a:xfrm>
            <a:off x="977901" y="3661469"/>
            <a:ext cx="293364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B263B"/>
                </a:solidFill>
                <a:latin typeface="Poppins"/>
                <a:ea typeface="Poppins"/>
                <a:cs typeface="Poppins"/>
                <a:sym typeface="Poppins"/>
              </a:rPr>
              <a:t>Loyal Segment</a:t>
            </a:r>
            <a:endParaRPr/>
          </a:p>
        </p:txBody>
      </p:sp>
      <p:sp>
        <p:nvSpPr>
          <p:cNvPr id="203" name="Google Shape;203;p21"/>
          <p:cNvSpPr txBox="1"/>
          <p:nvPr/>
        </p:nvSpPr>
        <p:spPr>
          <a:xfrm>
            <a:off x="4629101" y="3661469"/>
            <a:ext cx="293364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B263B"/>
                </a:solidFill>
                <a:latin typeface="Poppins"/>
                <a:ea typeface="Poppins"/>
                <a:cs typeface="Poppins"/>
                <a:sym typeface="Poppins"/>
              </a:rPr>
              <a:t>Returning</a:t>
            </a:r>
            <a:endParaRPr/>
          </a:p>
        </p:txBody>
      </p:sp>
      <p:sp>
        <p:nvSpPr>
          <p:cNvPr id="204" name="Google Shape;204;p21"/>
          <p:cNvSpPr txBox="1"/>
          <p:nvPr/>
        </p:nvSpPr>
        <p:spPr>
          <a:xfrm>
            <a:off x="8280298" y="3661469"/>
            <a:ext cx="2933804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B263B"/>
                </a:solidFill>
                <a:latin typeface="Poppins"/>
                <a:ea typeface="Poppins"/>
                <a:cs typeface="Poppins"/>
                <a:sym typeface="Poppins"/>
              </a:rPr>
              <a:t>New Acquisitions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2"/>
          <p:cNvSpPr txBox="1"/>
          <p:nvPr/>
        </p:nvSpPr>
        <p:spPr>
          <a:xfrm>
            <a:off x="762000" y="1412439"/>
            <a:ext cx="10532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Interactive reporting allows stakeholders to filter by Category, Subscription Status, and Shipping Type.</a:t>
            </a:r>
            <a:endParaRPr dirty="0"/>
          </a:p>
        </p:txBody>
      </p:sp>
      <p:sp>
        <p:nvSpPr>
          <p:cNvPr id="210" name="Google Shape;210;p22"/>
          <p:cNvSpPr txBox="1"/>
          <p:nvPr/>
        </p:nvSpPr>
        <p:spPr>
          <a:xfrm>
            <a:off x="762000" y="571500"/>
            <a:ext cx="105327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B263B"/>
                </a:solidFill>
                <a:latin typeface="Poppins"/>
                <a:ea typeface="Poppins"/>
                <a:cs typeface="Poppins"/>
                <a:sym typeface="Poppins"/>
              </a:rPr>
              <a:t>Real-Time Intelligence: Power BI Dashboard</a:t>
            </a:r>
            <a:endParaRPr/>
          </a:p>
        </p:txBody>
      </p:sp>
      <p:sp>
        <p:nvSpPr>
          <p:cNvPr id="211" name="Google Shape;211;p22"/>
          <p:cNvSpPr txBox="1"/>
          <p:nvPr/>
        </p:nvSpPr>
        <p:spPr>
          <a:xfrm>
            <a:off x="762000" y="1268963"/>
            <a:ext cx="48006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B263B"/>
                </a:solidFill>
                <a:latin typeface="Poppins"/>
                <a:ea typeface="Poppins"/>
                <a:cs typeface="Poppins"/>
                <a:sym typeface="Poppins"/>
              </a:rPr>
              <a:t>The Visual Command Center</a:t>
            </a:r>
            <a:endParaRPr/>
          </a:p>
        </p:txBody>
      </p:sp>
      <p:pic>
        <p:nvPicPr>
          <p:cNvPr id="212" name="Google Shape;21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1988" y="1931975"/>
            <a:ext cx="8272266" cy="4537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3"/>
          <p:cNvSpPr txBox="1"/>
          <p:nvPr/>
        </p:nvSpPr>
        <p:spPr>
          <a:xfrm>
            <a:off x="495300" y="574906"/>
            <a:ext cx="112014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38A3A5"/>
                </a:solidFill>
                <a:latin typeface="Poppins"/>
                <a:ea typeface="Poppins"/>
                <a:cs typeface="Poppins"/>
                <a:sym typeface="Poppins"/>
              </a:rPr>
              <a:t>Strategic Recommendations</a:t>
            </a:r>
            <a:endParaRPr lang="en-US" sz="3150" dirty="0"/>
          </a:p>
        </p:txBody>
      </p:sp>
      <p:grpSp>
        <p:nvGrpSpPr>
          <p:cNvPr id="218" name="Google Shape;218;p23"/>
          <p:cNvGrpSpPr/>
          <p:nvPr/>
        </p:nvGrpSpPr>
        <p:grpSpPr>
          <a:xfrm>
            <a:off x="905942" y="1725505"/>
            <a:ext cx="6246571" cy="635081"/>
            <a:chOff x="678650" y="3625719"/>
            <a:chExt cx="3893400" cy="635081"/>
          </a:xfrm>
        </p:grpSpPr>
        <p:sp>
          <p:nvSpPr>
            <p:cNvPr id="219" name="Google Shape;219;p23"/>
            <p:cNvSpPr txBox="1"/>
            <p:nvPr/>
          </p:nvSpPr>
          <p:spPr>
            <a:xfrm>
              <a:off x="678650" y="3937700"/>
              <a:ext cx="38934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1" dirty="0">
                  <a:solidFill>
                    <a:srgbClr val="4A4A4A"/>
                  </a:solidFill>
                  <a:latin typeface="Lato"/>
                  <a:ea typeface="Lato"/>
                  <a:cs typeface="Lato"/>
                  <a:sym typeface="Lato"/>
                </a:rPr>
                <a:t>Promote exclusive benefits for subscribers</a:t>
              </a:r>
              <a:endParaRPr sz="2000" dirty="0"/>
            </a:p>
          </p:txBody>
        </p:sp>
        <p:sp>
          <p:nvSpPr>
            <p:cNvPr id="220" name="Google Shape;220;p23"/>
            <p:cNvSpPr txBox="1"/>
            <p:nvPr/>
          </p:nvSpPr>
          <p:spPr>
            <a:xfrm>
              <a:off x="678651" y="3625719"/>
              <a:ext cx="2933700" cy="30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4" b="1" dirty="0">
                  <a:solidFill>
                    <a:srgbClr val="1B263B"/>
                  </a:solidFill>
                  <a:latin typeface="Poppins"/>
                  <a:ea typeface="Poppins"/>
                  <a:cs typeface="Poppins"/>
                  <a:sym typeface="Poppins"/>
                </a:rPr>
                <a:t>Boost Subscription</a:t>
              </a:r>
              <a:endParaRPr sz="2004" b="1" dirty="0">
                <a:solidFill>
                  <a:srgbClr val="1B263B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21" name="Google Shape;221;p23"/>
          <p:cNvGrpSpPr/>
          <p:nvPr/>
        </p:nvGrpSpPr>
        <p:grpSpPr>
          <a:xfrm>
            <a:off x="905942" y="2714404"/>
            <a:ext cx="6246571" cy="635081"/>
            <a:chOff x="678650" y="3625719"/>
            <a:chExt cx="3893400" cy="635081"/>
          </a:xfrm>
        </p:grpSpPr>
        <p:sp>
          <p:nvSpPr>
            <p:cNvPr id="222" name="Google Shape;222;p23"/>
            <p:cNvSpPr txBox="1"/>
            <p:nvPr/>
          </p:nvSpPr>
          <p:spPr>
            <a:xfrm>
              <a:off x="678650" y="3937700"/>
              <a:ext cx="38934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1" dirty="0">
                  <a:solidFill>
                    <a:srgbClr val="4A4A4A"/>
                  </a:solidFill>
                  <a:latin typeface="Lato"/>
                  <a:ea typeface="Lato"/>
                  <a:cs typeface="Lato"/>
                  <a:sym typeface="Lato"/>
                </a:rPr>
                <a:t>Reward repeat buyers to increase retention</a:t>
              </a:r>
              <a:endParaRPr sz="2000" dirty="0"/>
            </a:p>
          </p:txBody>
        </p:sp>
        <p:sp>
          <p:nvSpPr>
            <p:cNvPr id="223" name="Google Shape;223;p23"/>
            <p:cNvSpPr txBox="1"/>
            <p:nvPr/>
          </p:nvSpPr>
          <p:spPr>
            <a:xfrm>
              <a:off x="678651" y="3625719"/>
              <a:ext cx="2933700" cy="30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4" b="1" dirty="0">
                  <a:solidFill>
                    <a:srgbClr val="1B263B"/>
                  </a:solidFill>
                  <a:latin typeface="Poppins"/>
                  <a:ea typeface="Poppins"/>
                  <a:cs typeface="Poppins"/>
                  <a:sym typeface="Poppins"/>
                </a:rPr>
                <a:t>Loyalty Programs</a:t>
              </a:r>
              <a:endParaRPr sz="2004" b="1" dirty="0">
                <a:solidFill>
                  <a:srgbClr val="1B263B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24" name="Google Shape;224;p23"/>
          <p:cNvGrpSpPr/>
          <p:nvPr/>
        </p:nvGrpSpPr>
        <p:grpSpPr>
          <a:xfrm>
            <a:off x="905942" y="3745140"/>
            <a:ext cx="6246571" cy="635081"/>
            <a:chOff x="678650" y="3625719"/>
            <a:chExt cx="3893400" cy="635081"/>
          </a:xfrm>
        </p:grpSpPr>
        <p:sp>
          <p:nvSpPr>
            <p:cNvPr id="225" name="Google Shape;225;p23"/>
            <p:cNvSpPr txBox="1"/>
            <p:nvPr/>
          </p:nvSpPr>
          <p:spPr>
            <a:xfrm>
              <a:off x="678650" y="3937700"/>
              <a:ext cx="38934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1">
                  <a:solidFill>
                    <a:srgbClr val="4A4A4A"/>
                  </a:solidFill>
                  <a:latin typeface="Lato"/>
                  <a:ea typeface="Lato"/>
                  <a:cs typeface="Lato"/>
                  <a:sym typeface="Lato"/>
                </a:rPr>
                <a:t>Focus on high-revenue segments and express users</a:t>
              </a:r>
              <a:endParaRPr sz="2000"/>
            </a:p>
          </p:txBody>
        </p:sp>
        <p:sp>
          <p:nvSpPr>
            <p:cNvPr id="226" name="Google Shape;226;p23"/>
            <p:cNvSpPr txBox="1"/>
            <p:nvPr/>
          </p:nvSpPr>
          <p:spPr>
            <a:xfrm>
              <a:off x="678651" y="3625719"/>
              <a:ext cx="2933700" cy="30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4" b="1">
                  <a:solidFill>
                    <a:srgbClr val="1B263B"/>
                  </a:solidFill>
                  <a:latin typeface="Poppins"/>
                  <a:ea typeface="Poppins"/>
                  <a:cs typeface="Poppins"/>
                  <a:sym typeface="Poppins"/>
                </a:rPr>
                <a:t>Targeted Marketing</a:t>
              </a:r>
              <a:endParaRPr sz="2004" b="1">
                <a:solidFill>
                  <a:srgbClr val="1B263B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27" name="Google Shape;227;p23"/>
          <p:cNvGrpSpPr/>
          <p:nvPr/>
        </p:nvGrpSpPr>
        <p:grpSpPr>
          <a:xfrm>
            <a:off x="905942" y="4770316"/>
            <a:ext cx="6246571" cy="635081"/>
            <a:chOff x="678650" y="3625719"/>
            <a:chExt cx="3893400" cy="635081"/>
          </a:xfrm>
        </p:grpSpPr>
        <p:sp>
          <p:nvSpPr>
            <p:cNvPr id="228" name="Google Shape;228;p23"/>
            <p:cNvSpPr txBox="1"/>
            <p:nvPr/>
          </p:nvSpPr>
          <p:spPr>
            <a:xfrm>
              <a:off x="678650" y="3937700"/>
              <a:ext cx="38934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1">
                  <a:solidFill>
                    <a:srgbClr val="4A4A4A"/>
                  </a:solidFill>
                  <a:latin typeface="Lato"/>
                  <a:ea typeface="Lato"/>
                  <a:cs typeface="Lato"/>
                  <a:sym typeface="Lato"/>
                </a:rPr>
                <a:t>Highlight top-rated products in campaigns</a:t>
              </a:r>
              <a:endParaRPr sz="2000"/>
            </a:p>
          </p:txBody>
        </p:sp>
        <p:sp>
          <p:nvSpPr>
            <p:cNvPr id="229" name="Google Shape;229;p23"/>
            <p:cNvSpPr txBox="1"/>
            <p:nvPr/>
          </p:nvSpPr>
          <p:spPr>
            <a:xfrm>
              <a:off x="678651" y="3625719"/>
              <a:ext cx="2933700" cy="30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4" b="1">
                  <a:solidFill>
                    <a:srgbClr val="1B263B"/>
                  </a:solidFill>
                  <a:latin typeface="Poppins"/>
                  <a:ea typeface="Poppins"/>
                  <a:cs typeface="Poppins"/>
                  <a:sym typeface="Poppins"/>
                </a:rPr>
                <a:t>Product Positioning</a:t>
              </a:r>
              <a:endParaRPr sz="2004" b="1">
                <a:solidFill>
                  <a:srgbClr val="1B263B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354</Words>
  <Application>Microsoft Office PowerPoint</Application>
  <PresentationFormat>Widescreen</PresentationFormat>
  <Paragraphs>72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Calibri</vt:lpstr>
      <vt:lpstr>Poppins</vt:lpstr>
      <vt:lpstr>Lato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Aswale, Atharva (Student)</cp:lastModifiedBy>
  <cp:revision>1</cp:revision>
  <dcterms:modified xsi:type="dcterms:W3CDTF">2026-02-16T08:41:58Z</dcterms:modified>
</cp:coreProperties>
</file>